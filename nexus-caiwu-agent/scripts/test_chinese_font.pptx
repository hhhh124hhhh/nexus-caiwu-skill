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7315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/>
            </a:pPr>
            <a:r>
              <a:t>海康威视财务分析报告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7432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/>
            </a:pPr>
            <a:r>
              <a:t>股票代码：002415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1148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/>
            </a:pPr>
            <a:r>
              <a:t>报告日期：2026年02月18日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公司概况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2000"/>
            </a:pPr>
            <a:r>
              <a:t>基本信息</a:t>
            </a:r>
          </a:p>
          <a:p>
            <a:pPr>
              <a:defRPr sz="1600"/>
            </a:pPr>
            <a:r>
              <a:t>公司名称：海康威视</a:t>
            </a:r>
          </a:p>
          <a:p>
            <a:pPr>
              <a:defRPr sz="1600"/>
            </a:pPr>
            <a:r>
              <a:t>股票代码：002415</a:t>
            </a:r>
          </a:p>
          <a:p>
            <a:pPr>
              <a:defRPr sz="1600"/>
            </a:pPr>
            <a:r>
              <a:t>所属行业：高科技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核心财务指标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371600"/>
            <a:ext cx="36576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800"/>
            </a:pPr>
            <a:r>
              <a:t>营收与利润</a:t>
            </a:r>
          </a:p>
          <a:p>
            <a:pPr>
              <a:defRPr sz="1400"/>
            </a:pPr>
            <a:r>
              <a:t>营业收入：657.5亿元</a:t>
            </a:r>
          </a:p>
          <a:p>
            <a:pPr>
              <a:defRPr sz="1400"/>
            </a:pPr>
            <a:r>
              <a:t>净利润：102.5亿元</a:t>
            </a:r>
          </a:p>
          <a:p>
            <a:pPr>
              <a:defRPr sz="1400"/>
            </a:pPr>
            <a:r>
              <a:t>净利率：15.59%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0" y="1371600"/>
            <a:ext cx="36576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800"/>
            </a:pPr>
            <a:r>
              <a:t>盈利能力</a:t>
            </a:r>
          </a:p>
          <a:p>
            <a:pPr>
              <a:defRPr sz="1400"/>
            </a:pPr>
            <a:r>
              <a:t>毛利率：N/A%</a:t>
            </a:r>
          </a:p>
          <a:p>
            <a:pPr>
              <a:defRPr sz="1400"/>
            </a:pPr>
            <a:r>
              <a:t>ROE：11.93%</a:t>
            </a:r>
          </a:p>
          <a:p>
            <a:pPr>
              <a:defRPr sz="1400"/>
            </a:pPr>
            <a:r>
              <a:t>ROA：N/A%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2000"/>
            </a:pPr>
            <a:r>
              <a:t>健康评分：82/100  |  风险等级：低风险</a:t>
            </a:r>
          </a:p>
        </p:txBody>
      </p:sp>
      <p:pic>
        <p:nvPicPr>
          <p:cNvPr id="3" name="Picture 2" descr="tmpt7xldjq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97280"/>
            <a:ext cx="3657600" cy="3657600"/>
          </a:xfrm>
          <a:prstGeom prst="rect">
            <a:avLst/>
          </a:prstGeom>
        </p:spPr>
      </p:pic>
      <p:pic>
        <p:nvPicPr>
          <p:cNvPr id="4" name="Picture 3" descr="tmpxkwjqgo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1097280"/>
            <a:ext cx="4114800" cy="36576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2400"/>
            </a:pPr>
            <a:r>
              <a:t>盈利能力分析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  <a:r>
              <a:t>净利率：15.59%</a:t>
            </a:r>
          </a:p>
          <a:p>
            <a:pPr>
              <a:defRPr sz="1400"/>
            </a:pPr>
            <a:r>
              <a:t>净利率低于20%，建议关注成本控制和产品定价能力。</a:t>
            </a:r>
          </a:p>
          <a:p/>
          <a:p>
            <a:pPr>
              <a:defRPr sz="1800"/>
            </a:pPr>
            <a:r>
              <a:t>ROE：11.93%</a:t>
            </a:r>
          </a:p>
          <a:p>
            <a:pPr>
              <a:defRPr sz="1400"/>
            </a:pPr>
            <a:r>
              <a:t>ROE处于10%-20%区间，股东回报率良好。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2400"/>
            </a:pPr>
            <a:r>
              <a:t>投资建议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800"/>
            </a:pPr>
            <a:r>
              <a:t>综合评估：</a:t>
            </a:r>
          </a:p>
          <a:p>
            <a:pPr lvl="1">
              <a:defRPr sz="1400"/>
            </a:pPr>
            <a:r>
              <a:t>1. 测试建议1</a:t>
            </a:r>
          </a:p>
          <a:p>
            <a:pPr lvl="1">
              <a:defRPr sz="1400"/>
            </a:pPr>
            <a:r>
              <a:t>2. 测试建议2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2400"/>
            </a:pPr>
            <a:r>
              <a:t>风险提示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/>
            </a:pPr>
            <a:r>
              <a:t>本报告基于公开财务数据进行分析，仅供参考。</a:t>
            </a:r>
          </a:p>
          <a:p>
            <a:pPr>
              <a:defRPr sz="1200"/>
            </a:pPr>
          </a:p>
          <a:p>
            <a:pPr>
              <a:defRPr sz="1200"/>
            </a:pPr>
            <a:r>
              <a:t>投资风险提示：</a:t>
            </a:r>
          </a:p>
          <a:p>
            <a:pPr>
              <a:defRPr sz="1200"/>
            </a:pPr>
            <a:r>
              <a:t>• 股票投资存在市场风险</a:t>
            </a:r>
          </a:p>
          <a:p>
            <a:pPr>
              <a:defRPr sz="1200"/>
            </a:pPr>
            <a:r>
              <a:t>• 过往业绩不代表未来表现</a:t>
            </a:r>
          </a:p>
          <a:p>
            <a:pPr>
              <a:defRPr sz="1200"/>
            </a:pPr>
            <a:r>
              <a:t>• 请结合个人风险承受能力投资</a:t>
            </a:r>
          </a:p>
          <a:p>
            <a:pPr>
              <a:defRPr sz="1200"/>
            </a:pPr>
          </a:p>
          <a:p>
            <a:pPr>
              <a:defRPr sz="1200"/>
            </a:pPr>
            <a:r>
              <a:t>报告生成：nexus-caiwu-agent</a:t>
            </a:r>
          </a:p>
          <a:p>
            <a:pPr>
              <a:defRPr sz="1200"/>
            </a:pPr>
            <a:r>
              <a:t>数据来源：公开财务数据</a:t>
            </a:r>
          </a:p>
          <a:p>
            <a:pPr>
              <a:defRPr sz="1200"/>
            </a:pPr>
            <a:r>
              <a:t>免责声明：本报告不构成投资建议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